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457200"/>
            <a:ext cx="2743200" cy="2743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東京都知事杯オープンデータ・ハッカソン提案事業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GreenVoice TOKYO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都民の「声」とオープンデータで創る、ボトムアップ型グリーンインフラプラットフォーム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 TOKYO Green Biz / 緑の広域計画の共創型実装 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914400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GreenVoice TOKYO プロジェクトチーム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要件定義・構想深化版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背景：TOKYO Green Biz と都民参加の課題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AF6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822960" cy="822960"/>
          </a:xfrm>
          <a:prstGeom prst="ellipse">
            <a:avLst/>
          </a:prstGeom>
          <a:solidFill>
            <a:srgbClr val="E4F3E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TOKYO Green Biz の推進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100年先を見据えた「TOKYO Green Biz」において、まちの緑化と気候変動対策の加速が求められている。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AF6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240280"/>
            <a:ext cx="822960" cy="822960"/>
          </a:xfrm>
          <a:prstGeom prst="ellipse">
            <a:avLst/>
          </a:prstGeom>
          <a:solidFill>
            <a:srgbClr val="E4F3E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🏛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トップダウン行政の限界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8862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「どの公園に何が必要か」「どこを優先的に緑化すべきか」——細かい都民ニーズを行政主導だけでは拾いきれない。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AF6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240280"/>
            <a:ext cx="822960" cy="822960"/>
          </a:xfrm>
          <a:prstGeom prst="ellipse">
            <a:avLst/>
          </a:prstGeom>
          <a:solidFill>
            <a:srgbClr val="E4F3E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📊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66760" y="324612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データ活用と市民の分断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38862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東京都が公開する緑地GIS等のオープンデータが、日常的な住民参加や予算配分へ十分に還元されていない。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課題構造：ミクロの「声」と「予算」の分断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都民・企業の視点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9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「もっとこうしてほしい」が届かない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公園への設備（ベンチ、テニスコート）追加や、私有地への植樹・緑化貢献の意向があっても、要望の手続きが複雑で、個人の声では行政予算の獲得まで至らない。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433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23317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東京都・行政の視点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9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優先順位判断と客観的エビデンスの不足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20840" y="388620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予算配分の優先度を判断するための定量的データや地域住民の合意形成プロセスが不足しており、真に求められているグリーンインフラへの投資が進みにくい。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32120" y="370332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扱う範囲：まちの「みどり」に関することは幅広く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GreenVoiceは「木を植えるサービス」でも「ベンチを置くサービス」でもない。「緑を増やす」提案と「緑を適切に管理する」要望の両方を、公有地・私有地を問わず幅広く受け付ける。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3FAF6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134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公園設備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22402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ベンチ・日よけ等、公園利用に関わる設備要望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0" y="2240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使いやすくする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632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9900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植樹・緑化（公有地）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99008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街路樹・公園緑化・ヒートアイランド対策の植栽要望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0" y="29900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増やす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3FAF6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8130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7398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私有地緑化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3739896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企業・個人の敷地・屋上緑化（CSR/ESG含む）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0" y="373989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増やす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89704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56285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✂️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44897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樹木管理・伐採支援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4489704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私有地の危険木の伐採・剪定、老木の維持管理への助成申請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509760" y="44897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管理する（減らす／整える）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23951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3FAF6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31266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312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63040" y="52395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523951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上記に当てはまらない、まちの「みどり」に関する提案・相談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09760" y="523951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対象外の例：緑化・みどりと無関係な一般的施設要望（道路の陥没、ゴミ収集等）、個人間の金銭トラブル、緑化と無関係な福祉・教育サービスへの要望。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SERVICE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行政サービスデザインの構造：接点から制度・基盤の一体設計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E4F3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公共価値 ＆ 利用者体験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外部から見えやすい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都民・企業の「声」と「共感（署名）」の可視化：身近な緑化リクエストから私有地緑化提案まで、直感的なUIで投稿・オンライン署名・進捗追跡を実現。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サービス提供 ＆ 制度基盤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8188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外部から見えにくい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2120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業務・現場・組織：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都・区市町村の局を超えた事業査定ワークフローとAI優先度スコアリング。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6692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政策・制度・データ基盤：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東京都「緑のGISデータ」連携 × 「参加型緑化予算」制度の構築。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PERSONA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想定ペルソナ：利用者のニーズと利用シーン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914400" cy="914400"/>
          </a:xfrm>
          <a:prstGeom prst="ellipse">
            <a:avLst/>
          </a:prstGeom>
          <a:solidFill>
            <a:srgbClr val="E4F3E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👪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11680" y="24231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子育て世代の都民（30代）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4526280" cy="960120"/>
          </a:xfrm>
          <a:prstGeom prst="roundRect">
            <a:avLst>
              <a:gd name="adj" fmla="val 9524"/>
            </a:avLst>
          </a:prstGeom>
          <a:solidFill>
            <a:srgbClr val="F3FAF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747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「公園にもっと安心して休めるベンチや日よけがほしい」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日常的に利用する都立・区立公園で、日よけ付きベンチや安全な遊具の設置を望んでいるが、どこに要望を出せば予算化されるかわからない。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2331720"/>
            <a:ext cx="914400" cy="914400"/>
          </a:xfrm>
          <a:prstGeom prst="ellipse">
            <a:avLst/>
          </a:prstGeom>
          <a:solidFill>
            <a:srgbClr val="E4F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🏢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818120" y="24231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民間企業の環境担当者（40代）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720840" y="3474720"/>
            <a:ext cx="4526280" cy="960120"/>
          </a:xfrm>
          <a:prstGeom prst="roundRect">
            <a:avLst>
              <a:gd name="adj" fmla="val 9524"/>
            </a:avLst>
          </a:prstGeom>
          <a:solidFill>
            <a:srgbClr val="F3FAF6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4747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「自社ビル屋上や敷地を緑化し、地域に貢献したい」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0840" y="46634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CSR/ESG活動として緑化事業を計画しているが、地域住民のニーズに合致しているかのエビデンスが不足しており、行政の補助金申請ハードルも高い。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エンドツーエンドのフィットジャーニー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" y="214884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1141171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74950" y="2560320"/>
            <a:ext cx="219456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20080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投稿・提案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200802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位置情報・写真とともに提案（公園設備〜伐採支援まで）を地図上に投稿。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5226" y="214884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3405226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39005" y="2560320"/>
            <a:ext cx="219456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812694" y="3200400"/>
            <a:ext cx="20080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共感・署名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12694" y="3749040"/>
            <a:ext cx="200802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近隣住民・都民がワンタップでデジタル署名。共感度を集計。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214884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103059" y="2560320"/>
            <a:ext cx="219456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76749" y="3200400"/>
            <a:ext cx="20080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&amp; GIS査定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76749" y="3749040"/>
            <a:ext cx="200802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オープンデータ（緑化率・人口等）と署名数を掛け合わせ優先度スコア算出。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33334" y="214884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7933334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367114" y="2560320"/>
            <a:ext cx="219456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340803" y="3200400"/>
            <a:ext cx="20080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予算執行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40803" y="3749040"/>
            <a:ext cx="200802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「参加型緑化予算」枠から事業費・補助金が交付決定。施工化手続きへ。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97389" y="214884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10197389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04858" y="3200400"/>
            <a:ext cx="20080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フィードバック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04858" y="3749040"/>
            <a:ext cx="200802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完成後の写真・緑化効果データを共有。貢献度に応じたバッジ付与。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具体的な機能システム構成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3FA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フロントエンド（都民・企業向け）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8163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マップ連携型提案投稿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54480" y="313639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GISマップ上でピンを刺し、写真や要望を簡単に投稿。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8679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8496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1タップデジタル署名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54480" y="416966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LINE認証連携による不正防止付き簡易署名。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49011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8828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ステータス追跡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52029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査定〜予算〜施工完了までの進捗をリアルタイム可視化。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19202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3FAF6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194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バックエンド（行政ダッシュボード）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28163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AIスコアリングエンジン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60920" y="313639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署名数 × 緑化率・人口密度等のオープンデータを解析。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20840" y="38679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38496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管轄自動判定 &amp; 振り分け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60920" y="416966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都立公園/区立公園/私有地の管轄をGISで自動判定。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20840" y="49011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60920" y="48828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参加型予算査定ワークフロー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60920" y="52029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都区連携の審査委員会向け定量判断レポート出力。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実際に予算が下りるまでの具体プロセスフロー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60350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フェーズ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アクション主体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具体的なフロー・判定基準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 署名到達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都民 / 近隣住民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投稿後、一定期間内に一定数のデジタル署名（例：ミニマム案件50筆、中大規模案件300筆）を獲得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 自動スクリーニング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システム（AI・オープンデータ）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東京都「緑のGISデータ」・都市計画データと突合。法令抵触・安全性の自動事前検証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 合同査定委員会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東京都（建設局/環境局）× 区市町村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AI優先度スコアをベースに、四半期ごとの「参加型緑化予算枠」から事業化採択を決定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 予算執行・補助決定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行政 / 施工事業者 / 地主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【公有地】行政予算で発注・施工　【私有地】緑地協定締結等の条件達成により地主へ助成金交付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ステークホルダー別価値（三方よしのアプローチ）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🧑‍🤝‍🧑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都民・地域住民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街の緑への要望を伝える場がなく諦めていた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2971800" cy="0"/>
          </a:xfrm>
          <a:prstGeom prst="line">
            <a:avLst/>
          </a:prstGeom>
          <a:noFill/>
          <a:ln w="12700">
            <a:solidFill>
              <a:srgbClr val="CFE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 — GreenVoice導入後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署名を通じて自分の声が実際の公園整備や緑化に直結する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192024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219456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sp>
        <p:nvSpPr>
          <p:cNvPr id="15" name="Text 13"/>
          <p:cNvSpPr/>
          <p:nvPr/>
        </p:nvSpPr>
        <p:spPr>
          <a:xfrm>
            <a:off x="459943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76672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民間企業・私有地所有者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9432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9432" y="3383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緑化意欲はあっても資金負担や行政手続きがネック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99432" y="4526280"/>
            <a:ext cx="2971800" cy="0"/>
          </a:xfrm>
          <a:prstGeom prst="line">
            <a:avLst/>
          </a:prstGeom>
          <a:noFill/>
          <a:ln w="12700">
            <a:solidFill>
              <a:srgbClr val="CFE3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 — GreenVoice導入後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9432" y="4937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地域署名を背景に、予算（補助金）を得てCSR・ESG活動を推進できる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01584" y="192024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75904" y="219456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sp>
        <p:nvSpPr>
          <p:cNvPr id="24" name="Text 22"/>
          <p:cNvSpPr/>
          <p:nvPr/>
        </p:nvSpPr>
        <p:spPr>
          <a:xfrm>
            <a:off x="837590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🏛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53144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東京都・区市町村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375904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75904" y="3383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緑化予算の配分根拠（エビデンス）の獲得が難しい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75904" y="4526280"/>
            <a:ext cx="2971800" cy="0"/>
          </a:xfrm>
          <a:prstGeom prst="line">
            <a:avLst/>
          </a:prstGeom>
          <a:noFill/>
          <a:ln w="12700">
            <a:solidFill>
              <a:srgbClr val="CFE3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 — GreenVoice導入後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75904" y="4937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住民需要データ×GISデータにより、失敗のないグリーンインフラ投資を実現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行政経営の再設計：レベル1からレベル4への進化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3FA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85416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8541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Lv.1  インタラクション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接点を改善する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2057400"/>
            <a:ext cx="6492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スマホで1分で完了する緑化リクエスト投稿 &amp; ワンタップ署名UI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51560" y="3099816"/>
            <a:ext cx="10561320" cy="1024128"/>
          </a:xfrm>
          <a:prstGeom prst="roundRect">
            <a:avLst>
              <a:gd name="adj" fmla="val 8929"/>
            </a:avLst>
          </a:prstGeom>
          <a:solidFill>
            <a:srgbClr val="F3FAF6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331927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319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57400" y="3191256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Lv.2  サービスデザイン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サービス全体を再設計する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3191256"/>
            <a:ext cx="5989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都民・事業者・都庁・区市町村が同一プラットフォームで進捗共有・共創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554480" y="4233672"/>
            <a:ext cx="10058400" cy="1024128"/>
          </a:xfrm>
          <a:prstGeom prst="roundRect">
            <a:avLst>
              <a:gd name="adj" fmla="val 8929"/>
            </a:avLst>
          </a:prstGeom>
          <a:solidFill>
            <a:srgbClr val="F3FAF6"/>
          </a:solidFill>
          <a:ln/>
        </p:spPr>
      </p:sp>
      <p:sp>
        <p:nvSpPr>
          <p:cNvPr id="15" name="Shape 13"/>
          <p:cNvSpPr/>
          <p:nvPr/>
        </p:nvSpPr>
        <p:spPr>
          <a:xfrm>
            <a:off x="1783080" y="445312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4453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60320" y="4325112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Lv.3  システムデザイン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制度・組織システムを変える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4325112"/>
            <a:ext cx="5486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署名数（共感データ）に応じた「参加型緑化予算」枠の創設と官民連携補助金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57400" y="5367528"/>
            <a:ext cx="9555480" cy="1024128"/>
          </a:xfrm>
          <a:prstGeom prst="roundRect">
            <a:avLst>
              <a:gd name="adj" fmla="val 8929"/>
            </a:avLst>
          </a:prstGeom>
          <a:solidFill>
            <a:srgbClr val="1B4332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5586984"/>
            <a:ext cx="585216" cy="585216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55869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063240" y="5458968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Lv.4  デザインフューチャーズ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将来の行政を設計する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5458968"/>
            <a:ext cx="4983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オープンデータとボトムアップ参加により、100年先のTOKYO Green Bizを継続実装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期待される効果：施策採択率と都民満足度の飛躍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25% → 80%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施策採択率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（従来 → GreenVoice導入時の目標値）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201168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22402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720840" y="32004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都民の緑化施策満足度（目標値）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34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目標値の位置づけ（要件定義フェーズでの確認事項）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上記はハッカソン提案時点の目標値であり、実測値の裏付けはまだない。Phase 1（MVP）では、投稿数・署名達成率・行政ダッシュボードでの審査対応時間などを実測可能なKPIとして計測し、Phase 2以降にモデル区での実際の採択率・満足度調査と接続していく（詳細はロードマップ参照）。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事業化推進におけるハードルと突破策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130552"/>
            <a:ext cx="32918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縦割り行政・管轄の壁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6172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ハードル：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都立・区立・私有地で担当部署が分断され、要望がたらい回しになる。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突破策：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GIS位置情報から管轄を自動タグ付けし、都区合同査定プラットフォームを構築。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88620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685032"/>
            <a:ext cx="32918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声の大きさによる偏り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3657600"/>
            <a:ext cx="6172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ハードル：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特定個人の声や組織票で不必要な高額予算がついてしまう懸念。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突破策：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署名数だけでなく、緑化率等のオープンデータAI解析を複合的に評価。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FE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44068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440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5239512"/>
            <a:ext cx="32918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私有地緑化の権利と維持管理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5212080"/>
            <a:ext cx="6172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ハードル：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補助金交付後の売却や撤去、緑地の維持管理責任の曖昧さ。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突破策：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「緑地協定（最低5年継続）」の締結を助成金交付の要件とし、定期報告を義務化。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公共デザインの視点：信頼されるAI・データの活用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2585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自由を守る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行政の押し付けではなく、都民・事業者が自由に「自らの街に必要な緑」を提案・選定できる自律性を保障。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8600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22585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公正を守る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声の大きさによらず、オンライン署名数と緑化率GISデータによるAIスコアリングで公正な配分を実現。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4074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民主的統制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提案採択・予算化の判断プロセスと根拠データをオープンにし、異議申立てや都民監査の透明性を制度化。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43484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4074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未来の可能性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目前の効率性だけでなく、将来世代へ豊かなグリーンインフラと気候変動耐性を残す「100年先への継承」。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FROM CONCEPT TO BUILD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構想から実現へ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要件定義フェーズで確認した「本当に作れるもの」「実在するデータ」を踏まえた実行計画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ハッカソンMVP（Phase 1）のスコープと実装状況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3FA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作る／作った（In Scope）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578608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地図投稿・区選択・住所キーワード検索による位置指定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LINEログイン想定のワンタップ・デジタル署名（重複防止）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投稿者は匿名ハンドル表示。本名は行政のみ閲覧可能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提案一覧（新着順／署名が多い順）・詳細・進捗ステータス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行政向け：優先度スコア確認・審査ダッシュボード（スコアは行政限定表示）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位置情報に基づく管轄自動判定（対象エリア限定）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完了した提案を強調する「実現しました」ショーケース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5EDE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75B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⏸  モック／将来対応（Out of Scope）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マイナンバーカード（JPKI）連携 → 画面上はプレースホルダーのみ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実際の予算執行・補助金の金銭移動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都・区市町村横断の正式な合同査定委員会ワークフロー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熱環境（表面温度）データ連携（入手可否が未確定）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多言語対応・WCAG準拠のアクセシビリティ本格対応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技術アーキテクチャ（Next.js + TypeScript）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3FA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29000" y="187452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都民・企業向けWeb / 行政ダッシュボード（PC）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632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Next.js アプリケーション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UIページ（投稿・署名・進捗）／ 管理UI（審査・スコア確認）／ API Routes・Server Actions／ スコアリングバッチ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0" y="4069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3FA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519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425196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43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PostgreSQL + PostGIS（地理空間クエリ）／ オブジェクトストレージ（写真等）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0" y="5257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4F3E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4068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外部連携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544068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東京都オープンデータ（緑のGIS・公園施設API）／ LINEログイン／ 地図タイル（国土地理院・OSM）／ 人口統計（e-Stat）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REAL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外部データ連携：ハッカソン段階での実現可能性調査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429768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0040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領域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候補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扱い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緑地・公園GIS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東京都「緑のオープンデータ」（2026年2月公開）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実データ連携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公園施設情報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東京都オープンデータAPI（区市町村単位、例：墨田区）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実データ連携（対象自治体を限定）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地図タイル・住所検索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国土地理院 標準地図タイル／住所検索API（ジオコーディング）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実データ連携・実装済み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本人認証・署名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LINEログイン（OAuth）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実データ連携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本人認証（将来拡張）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マイナンバーカード公的個人認証（JPKI）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75B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モック／将来拡張（認定事業者化が必要）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熱環境データ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東京都環境局 ヒートアイランド関連資料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75B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要検証（機械可読な公開形態は未確認）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人口統計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e-Stat（国勢調査メッシュ統計）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実データ連携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出典：東京都オープンデータカタログサイト／東京都オープンデータAPIカタログサイト／総務省 公的個人認証サービス案内（2026年8月時点調査）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ハッカソンから社会実装へのロードマップ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ハッカソン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MVPプロトタイプ開発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東京都緑地オープンデータのAPI連携検証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投稿・署名プロトタイプ実証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370332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3FAF6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2240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5152" y="258775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モデル区実証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5152" y="324612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特定区市での限定実証実験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「公園ベンチ」「街頭緑化」提案の事業化モデル検証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緑地協定の締結フロー本格運用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370332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3FAF6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2240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21624" y="258775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都内全域展開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1624" y="324612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東京都「参加型緑化予算」制度との公式連携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民有地緑化助成金制度の本格稼働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JPKI本格連携・GIS自動判定への全面移行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840480"/>
            <a:ext cx="5029200" cy="5029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「誰もが緑化予算を得られる」社会へ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官民連携による緑化の加速、CSR/ESGの見える化、ヒートアイランド現象の緩和——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点から面へ、東京の緑を都民自身の手で育てるプラットフォームを。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C6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GreenVoice TOKYO プロジェクトチーム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3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東京都オープンデータハッカソン提出案 ／ 要件定義・構想深化版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2026-08-07T06:59:19Z</dcterms:created>
  <dcterms:modified xsi:type="dcterms:W3CDTF">2026-08-07T06:59:19Z</dcterms:modified>
</cp:coreProperties>
</file>