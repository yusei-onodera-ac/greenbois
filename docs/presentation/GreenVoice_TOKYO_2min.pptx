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859536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1170432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481328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1792224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92640" y="2103120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92640" y="2414016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692640" y="2724912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0" y="3035808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0" y="3346704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003536" y="548640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003536" y="859536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003536" y="1170432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003536" y="1481328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003536" y="1792224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003536" y="2103120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003536" y="2414016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003536" y="2724912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003536" y="3035808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003536" y="3346704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314432" y="548640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314432" y="859536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314432" y="1170432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314432" y="1481328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314432" y="1792224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314432" y="2103120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314432" y="2414016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314432" y="2724912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314432" y="3035808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314432" y="3346704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625328" y="548640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625328" y="859536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625328" y="1170432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625328" y="1481328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625328" y="1792224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625328" y="2103120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625328" y="2414016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625328" y="2724912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625328" y="3035808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625328" y="3346704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936224" y="548640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936224" y="859536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936224" y="1170432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936224" y="1481328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936224" y="1792224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936224" y="2103120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936224" y="2414016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936224" y="2724912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936224" y="3035808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936224" y="3346704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247120" y="548640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247120" y="859536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1247120" y="1170432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1247120" y="1481328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247120" y="1792224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1247120" y="2103120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247120" y="2414016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247120" y="2724912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247120" y="3035808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247120" y="3346704"/>
            <a:ext cx="41148" cy="41148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40080" y="5120640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40080" y="5431536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40080" y="5742432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640080" y="6053328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50976" y="5120640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50976" y="5431536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50976" y="5742432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50976" y="6053328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261872" y="5120640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261872" y="5431536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261872" y="5742432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261872" y="6053328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572768" y="5120640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572768" y="5431536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572768" y="5742432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572768" y="6053328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883664" y="5120640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1883664" y="5431536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1883664" y="5742432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1883664" y="6053328"/>
            <a:ext cx="41148" cy="41148"/>
          </a:xfrm>
          <a:prstGeom prst="ellipse">
            <a:avLst/>
          </a:prstGeom>
          <a:solidFill>
            <a:srgbClr val="2F8F39">
              <a:alpha val="35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83" name="Image 0" descr="C:\Users\yusei.onodera\AppData\Local\Temp\claude\C--Users-yusei-onodera-git-GreenBois\17d97dcd-0a87-4359-aaef-b1e6a68a8805\scratchpad\icons\seed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70" y="968350"/>
            <a:ext cx="486461" cy="486461"/>
          </a:xfrm>
          <a:prstGeom prst="rect">
            <a:avLst/>
          </a:prstGeom>
        </p:spPr>
      </p:pic>
      <p:sp>
        <p:nvSpPr>
          <p:cNvPr id="84" name="Text 81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東京都オープンデータハッカソン</a:t>
            </a:r>
            <a:endParaRPr lang="en-US" sz="1300" dirty="0"/>
          </a:p>
        </p:txBody>
      </p:sp>
      <p:sp>
        <p:nvSpPr>
          <p:cNvPr id="85" name="Text 82"/>
          <p:cNvSpPr/>
          <p:nvPr/>
        </p:nvSpPr>
        <p:spPr>
          <a:xfrm>
            <a:off x="77724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GreenVoice TOKYO</a:t>
            </a:r>
            <a:endParaRPr lang="en-US" sz="5400" dirty="0"/>
          </a:p>
        </p:txBody>
      </p:sp>
      <p:sp>
        <p:nvSpPr>
          <p:cNvPr id="86" name="Text 83"/>
          <p:cNvSpPr/>
          <p:nvPr/>
        </p:nvSpPr>
        <p:spPr>
          <a:xfrm>
            <a:off x="822960" y="36118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A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都民の「みどり」への声を、東京都オープンデータで公有地の管轄へ橋渡しする</a:t>
            </a:r>
            <a:endParaRPr lang="en-US" sz="1600" dirty="0"/>
          </a:p>
        </p:txBody>
      </p:sp>
      <p:sp>
        <p:nvSpPr>
          <p:cNvPr id="87" name="Shape 84"/>
          <p:cNvSpPr/>
          <p:nvPr/>
        </p:nvSpPr>
        <p:spPr>
          <a:xfrm>
            <a:off x="822960" y="4434840"/>
            <a:ext cx="3291840" cy="0"/>
          </a:xfrm>
          <a:prstGeom prst="line">
            <a:avLst/>
          </a:prstGeom>
          <a:noFill/>
          <a:ln w="19050">
            <a:solidFill>
              <a:srgbClr val="2F8F39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構想ではなく、実装で。 2分ピッチ</a:t>
            </a:r>
            <a:endParaRPr lang="en-US" sz="1300" dirty="0"/>
          </a:p>
        </p:txBody>
      </p:sp>
      <p:sp>
        <p:nvSpPr>
          <p:cNvPr id="89" name="Text 86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 — 0:00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188720"/>
            <a:ext cx="777240" cy="77724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4" name="Image 0" descr="C:\Users\yusei.onodera\AppData\Local\Temp\claude\C--Users-yusei-onodera-git-GreenBois\17d97dcd-0a87-4359-aaef-b1e6a68a8805\scratchpad\icons\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" y="1363599"/>
            <a:ext cx="427482" cy="4274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03120" y="1188720"/>
            <a:ext cx="777240" cy="777240"/>
          </a:xfrm>
          <a:prstGeom prst="ellipse">
            <a:avLst/>
          </a:prstGeom>
          <a:solidFill>
            <a:srgbClr val="4C5C4E"/>
          </a:solidFill>
          <a:ln/>
        </p:spPr>
      </p:sp>
      <p:pic>
        <p:nvPicPr>
          <p:cNvPr id="6" name="Image 1" descr="C:\Users\yusei.onodera\AppData\Local\Temp\claude\C--Users-yusei-onodera-git-GreenBois\17d97dcd-0a87-4359-aaef-b1e6a68a8805\scratchpad\icons\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430" y="1383030"/>
            <a:ext cx="388620" cy="3886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28800" y="1572768"/>
            <a:ext cx="228600" cy="0"/>
          </a:xfrm>
          <a:prstGeom prst="line">
            <a:avLst/>
          </a:prstGeom>
          <a:noFill/>
          <a:ln w="25400">
            <a:solidFill>
              <a:srgbClr val="BBD4B6"/>
            </a:solidFill>
            <a:prstDash val="dash"/>
          </a:ln>
        </p:spPr>
      </p:sp>
      <p:sp>
        <p:nvSpPr>
          <p:cNvPr id="8" name="Text 4"/>
          <p:cNvSpPr/>
          <p:nvPr/>
        </p:nvSpPr>
        <p:spPr>
          <a:xfrm>
            <a:off x="822960" y="233172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「公園のベンチを直してほしい」</a:t>
            </a:r>
            <a:endParaRPr lang="en-US" sz="3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その声は、今どこに届くのでしょうか。</a:t>
            </a:r>
            <a:endParaRPr lang="en-US" sz="3400" dirty="0"/>
          </a:p>
        </p:txBody>
      </p:sp>
      <p:sp>
        <p:nvSpPr>
          <p:cNvPr id="9" name="Shape 5"/>
          <p:cNvSpPr/>
          <p:nvPr/>
        </p:nvSpPr>
        <p:spPr>
          <a:xfrm>
            <a:off x="822960" y="4160520"/>
            <a:ext cx="10332720" cy="1417320"/>
          </a:xfrm>
          <a:prstGeom prst="rect">
            <a:avLst/>
          </a:prstGeom>
          <a:solidFill>
            <a:srgbClr val="DCEBD9"/>
          </a:solidFill>
          <a:ln/>
        </p:spPr>
      </p:sp>
      <p:sp>
        <p:nvSpPr>
          <p:cNvPr id="10" name="Text 6"/>
          <p:cNvSpPr/>
          <p:nvPr/>
        </p:nvSpPr>
        <p:spPr>
          <a:xfrm>
            <a:off x="1097280" y="434340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23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GreenVoice TOKYO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6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は、この分断を東京都オープンデータで橋渡しするアプリです。今日は構想ではなく、実際に動く実装でお見せします。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 — 0:15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証明したいことは、2つだけです。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29200" cy="3977640"/>
          </a:xfrm>
          <a:prstGeom prst="rect">
            <a:avLst/>
          </a:prstGeom>
          <a:solidFill>
            <a:srgbClr val="FFFFFF"/>
          </a:solidFill>
          <a:ln w="15875">
            <a:solidFill>
              <a:srgbClr val="BBD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468880"/>
            <a:ext cx="1051560" cy="105156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6" name="Image 0" descr="C:\Users\yusei.onodera\AppData\Local\Temp\claude\C--Users-yusei-onodera-git-GreenBois\17d97dcd-0a87-4359-aaef-b1e6a68a8805\scratchpad\icons\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761" y="2705481"/>
            <a:ext cx="578358" cy="5783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48056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BBD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280160" y="3794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技術的現実性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80160" y="43891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4C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東京都の実データで、管轄判定が本当に動くこと。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029200" cy="3977640"/>
          </a:xfrm>
          <a:prstGeom prst="rect">
            <a:avLst/>
          </a:prstGeom>
          <a:solidFill>
            <a:srgbClr val="FFFFFF"/>
          </a:solidFill>
          <a:ln w="15875">
            <a:solidFill>
              <a:srgbClr val="BBD4B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9400" y="2468880"/>
            <a:ext cx="1051560" cy="105156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12" name="Image 1" descr="C:\Users\yusei.onodera\AppData\Local\Temp\claude\C--Users-yusei-onodera-git-GreenBois\17d97dcd-0a87-4359-aaef-b1e6a68a8805\scratchpad\icons\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001" y="2705481"/>
            <a:ext cx="578358" cy="5783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2980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BBD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6629400" y="3794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政策的価値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629400" y="43891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4C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声から予算判断・担当部署までが、一気通貫でつながること。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 1 / 3 — 0:30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051560"/>
            <a:ext cx="822960" cy="82296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4" name="Image 0" descr="C:\Users\yusei.onodera\AppData\Local\Temp\claude\C--Users-yusei-onodera-git-GreenBois\17d97dcd-0a87-4359-aaef-b1e6a68a8805\scratchpad\icons\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1236726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17043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データ基盤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3337560" cy="1737360"/>
          </a:xfrm>
          <a:prstGeom prst="rect">
            <a:avLst/>
          </a:prstGeom>
          <a:solidFill>
            <a:srgbClr val="DCEBD9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6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23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051560" y="31089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区分の公園データを取り込み済み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16552" y="2148840"/>
            <a:ext cx="3337560" cy="1737360"/>
          </a:xfrm>
          <a:prstGeom prst="rect">
            <a:avLst/>
          </a:prstGeom>
          <a:solidFill>
            <a:srgbClr val="DCEBD9"/>
          </a:solidFill>
          <a:ln/>
        </p:spPr>
      </p:sp>
      <p:sp>
        <p:nvSpPr>
          <p:cNvPr id="10" name="Text 7"/>
          <p:cNvSpPr/>
          <p:nvPr/>
        </p:nvSpPr>
        <p:spPr>
          <a:xfrm>
            <a:off x="4645152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6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約3,300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645152" y="31089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件の施設データ(公園等)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10144" y="2148840"/>
            <a:ext cx="3337560" cy="1737360"/>
          </a:xfrm>
          <a:prstGeom prst="rect">
            <a:avLst/>
          </a:prstGeom>
          <a:solidFill>
            <a:srgbClr val="DCEBD9"/>
          </a:solidFill>
          <a:ln/>
        </p:spPr>
      </p:sp>
      <p:sp>
        <p:nvSpPr>
          <p:cNvPr id="13" name="Text 10"/>
          <p:cNvSpPr/>
          <p:nvPr/>
        </p:nvSpPr>
        <p:spPr>
          <a:xfrm>
            <a:off x="8238744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6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80m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238744" y="31089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以内の近傍一致で管轄を自動判定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22960" y="4160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東京都オープンデータの公園データを取り込み、施設・道路との近傍一致 → 区フォールバック → 手動確認、の3段階フォールバックで管轄部署を自動判定します。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2960" y="5257800"/>
            <a:ext cx="9692640" cy="292608"/>
          </a:xfrm>
          <a:prstGeom prst="rect">
            <a:avLst/>
          </a:prstGeom>
          <a:solidFill>
            <a:srgbClr val="F3E6CE"/>
          </a:solidFill>
          <a:ln w="9525">
            <a:solidFill>
              <a:srgbClr val="C98A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" y="5257800"/>
            <a:ext cx="9546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東京都オープンデータカタログサイト(catalog.data.metro.tokyo.lg.jp)経由取得 / app/src/lib/jurisdiction.ts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 2 / 3 — 0:48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051560"/>
            <a:ext cx="822960" cy="82296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4" name="Image 0" descr="C:\Users\yusei.onodera\AppData\Local\Temp\claude\C--Users-yusei-onodera-git-GreenBois\17d97dcd-0a87-4359-aaef-b1e6a68a8805\scratchpad\icons\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1236726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17043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都民体験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2331720"/>
            <a:ext cx="2395728" cy="2286000"/>
          </a:xfrm>
          <a:prstGeom prst="rect">
            <a:avLst/>
          </a:prstGeom>
          <a:solidFill>
            <a:srgbClr val="DCEBD9"/>
          </a:solidFill>
          <a:ln/>
        </p:spPr>
      </p:sp>
      <p:sp>
        <p:nvSpPr>
          <p:cNvPr id="7" name="Shape 4"/>
          <p:cNvSpPr/>
          <p:nvPr/>
        </p:nvSpPr>
        <p:spPr>
          <a:xfrm>
            <a:off x="1609344" y="2606040"/>
            <a:ext cx="822960" cy="82296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8" name="Image 1" descr="C:\Users\yusei.onodera\AppData\Local\Temp\claude\C--Users-yusei-onodera-git-GreenBois\17d97dcd-0a87-4359-aaef-b1e6a68a8805\scratchpad\icons\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510" y="2791206"/>
            <a:ext cx="452628" cy="4526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35661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ピンを立てる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32688" y="40690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C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地図上で場所を指定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227832" y="31089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BD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419856" y="2331720"/>
            <a:ext cx="2395728" cy="2286000"/>
          </a:xfrm>
          <a:prstGeom prst="rect">
            <a:avLst/>
          </a:prstGeom>
          <a:solidFill>
            <a:srgbClr val="DCEBD9"/>
          </a:solidFill>
          <a:ln/>
        </p:spPr>
      </p:sp>
      <p:sp>
        <p:nvSpPr>
          <p:cNvPr id="13" name="Shape 9"/>
          <p:cNvSpPr/>
          <p:nvPr/>
        </p:nvSpPr>
        <p:spPr>
          <a:xfrm>
            <a:off x="4206240" y="2606040"/>
            <a:ext cx="822960" cy="82296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14" name="Image 2" descr="C:\Users\yusei.onodera\AppData\Local\Temp\claude\C--Users-yusei-onodera-git-GreenBois\17d97dcd-0a87-4359-aaef-b1e6a68a8805\scratchpad\icons\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406" y="2791206"/>
            <a:ext cx="452628" cy="4526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29584" y="35661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写真を添えて投稿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529584" y="40690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C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1〜5枚を添付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824728" y="31089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BD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6016752" y="2331720"/>
            <a:ext cx="2395728" cy="2286000"/>
          </a:xfrm>
          <a:prstGeom prst="rect">
            <a:avLst/>
          </a:prstGeom>
          <a:solidFill>
            <a:srgbClr val="DCEBD9"/>
          </a:solidFill>
          <a:ln/>
        </p:spPr>
      </p:sp>
      <p:sp>
        <p:nvSpPr>
          <p:cNvPr id="19" name="Shape 14"/>
          <p:cNvSpPr/>
          <p:nvPr/>
        </p:nvSpPr>
        <p:spPr>
          <a:xfrm>
            <a:off x="6803136" y="2606040"/>
            <a:ext cx="822960" cy="82296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20" name="Image 3" descr="C:\Users\yusei.onodera\AppData\Local\Temp\claude\C--Users-yusei-onodera-git-GreenBois\17d97dcd-0a87-4359-aaef-b1e6a68a8805\scratchpad\icons\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302" y="2791206"/>
            <a:ext cx="452628" cy="4526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26480" y="35661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他の都民が署名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126480" y="40690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C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1人1提案につき1署名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421624" y="31089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BD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8613648" y="2331720"/>
            <a:ext cx="2395728" cy="2286000"/>
          </a:xfrm>
          <a:prstGeom prst="rect">
            <a:avLst/>
          </a:prstGeom>
          <a:solidFill>
            <a:srgbClr val="DCEBD9"/>
          </a:solidFill>
          <a:ln/>
        </p:spPr>
      </p:sp>
      <p:sp>
        <p:nvSpPr>
          <p:cNvPr id="25" name="Shape 19"/>
          <p:cNvSpPr/>
          <p:nvPr/>
        </p:nvSpPr>
        <p:spPr>
          <a:xfrm>
            <a:off x="9400032" y="2606040"/>
            <a:ext cx="822960" cy="82296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26" name="Image 4" descr="C:\Users\yusei.onodera\AppData\Local\Temp\claude\C--Users-yusei-onodera-git-GreenBois\17d97dcd-0a87-4359-aaef-b1e6a68a8805\scratchpad\icons\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5198" y="2791206"/>
            <a:ext cx="452628" cy="4526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723376" y="35661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進捗を確認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8723376" y="40690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C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ステッパーで可視化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822960" y="5029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C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提案者の氏名は都民向け画面には表示されません。公開ハンドルのみが見えます。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822960" y="5577840"/>
            <a:ext cx="7498080" cy="292608"/>
          </a:xfrm>
          <a:prstGeom prst="rect">
            <a:avLst/>
          </a:prstGeom>
          <a:solidFill>
            <a:srgbClr val="F3E6CE"/>
          </a:solidFill>
          <a:ln w="9525">
            <a:solidFill>
              <a:srgbClr val="C98A2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96112" y="5577840"/>
            <a:ext cx="7351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docs/06-admin-data-flow.md(都民向け/行政向けの情報分離設計)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 3 / 3 — 1:03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051560"/>
            <a:ext cx="822960" cy="82296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4" name="Image 0" descr="C:\Users\yusei.onodera\AppData\Local\Temp\claude\C--Users-yusei-onodera-git-GreenBois\17d97dcd-0a87-4359-aaef-b1e6a68a8805\scratchpad\icons\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1236726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17043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行政活用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2103120"/>
            <a:ext cx="10332720" cy="960120"/>
          </a:xfrm>
          <a:prstGeom prst="rect">
            <a:avLst/>
          </a:prstGeom>
          <a:solidFill>
            <a:srgbClr val="16331F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10312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優先度スコア</a:t>
            </a:r>
            <a:pPr algn="ctr" indent="0" marL="0">
              <a:buNone/>
            </a:pPr>
            <a:r>
              <a:rPr lang="en-US" sz="2000" dirty="0">
                <a:solidFill>
                  <a:srgbClr val="AFC9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</a:t>
            </a:r>
            <a:pPr algn="ctr" indent="0" marL="0">
              <a:buNone/>
            </a:pPr>
            <a:r>
              <a:rPr lang="en-US" sz="2000" b="1" dirty="0">
                <a:solidFill>
                  <a:srgbClr val="2F8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署名スコア</a:t>
            </a:r>
            <a:pPr algn="ctr" indent="0" marL="0">
              <a:buNone/>
            </a:pPr>
            <a:r>
              <a:rPr lang="en-US" sz="2000" dirty="0">
                <a:solidFill>
                  <a:srgbClr val="AFC9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pPr algn="ctr" indent="0" marL="0">
              <a:buNone/>
            </a:pPr>
            <a:r>
              <a:rPr lang="en-US" sz="2000" b="1" dirty="0">
                <a:solidFill>
                  <a:srgbClr val="C9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オープンデータスコア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6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ダッシュボードでは、この優先度順に提案が一覧化され、管轄・判定方法バッジ付きでステータス変更できます。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10332720" cy="566928"/>
          </a:xfrm>
          <a:prstGeom prst="rect">
            <a:avLst/>
          </a:prstGeom>
          <a:solidFill>
            <a:srgbClr val="DCEBD9"/>
          </a:solidFill>
          <a:ln w="9525">
            <a:solidFill>
              <a:srgbClr val="BBD4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1605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6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63040" y="41605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○○公園 遊具の修繕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589520" y="41605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site_match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509760" y="41605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3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" y="4818888"/>
            <a:ext cx="10332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BD4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481888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6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63040" y="481888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△△通り 街路樹の剪定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589520" y="48188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ward_fallback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509760" y="48188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3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22960" y="5477256"/>
            <a:ext cx="10332720" cy="566928"/>
          </a:xfrm>
          <a:prstGeom prst="rect">
            <a:avLst/>
          </a:prstGeom>
          <a:solidFill>
            <a:srgbClr val="DCEBD9"/>
          </a:solidFill>
          <a:ln w="9525">
            <a:solidFill>
              <a:srgbClr val="BBD4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0120" y="54772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6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63040" y="547725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□□図書館 前 ベンチ設置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589520" y="547725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site_match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509760" y="54772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3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5212080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5504688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5797296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6089904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168128" y="5212080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168128" y="5504688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68128" y="5797296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168128" y="6089904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60736" y="5212080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60736" y="5504688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460736" y="5797296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60736" y="6089904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753344" y="5212080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753344" y="5504688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53344" y="5797296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753344" y="6089904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045952" y="5212080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045952" y="5504688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045952" y="5797296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045952" y="6089904"/>
            <a:ext cx="36576" cy="36576"/>
          </a:xfrm>
          <a:prstGeom prst="ellipse">
            <a:avLst/>
          </a:prstGeom>
          <a:solidFill>
            <a:srgbClr val="2F8F39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振り返り — 1:15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1371600"/>
            <a:ext cx="10332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判定ロジックも優先順位づけも、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絵ではなくコードとして、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今日ここで動いています。</a:t>
            </a:r>
            <a:endParaRPr lang="en-US" sz="3600" dirty="0"/>
          </a:p>
        </p:txBody>
      </p:sp>
      <p:sp>
        <p:nvSpPr>
          <p:cNvPr id="24" name="Shape 22"/>
          <p:cNvSpPr/>
          <p:nvPr/>
        </p:nvSpPr>
        <p:spPr>
          <a:xfrm>
            <a:off x="822960" y="4297680"/>
            <a:ext cx="5029200" cy="1691640"/>
          </a:xfrm>
          <a:prstGeom prst="rect">
            <a:avLst/>
          </a:prstGeom>
          <a:solidFill>
            <a:srgbClr val="1E4029"/>
          </a:solidFill>
          <a:ln w="12700">
            <a:solidFill>
              <a:srgbClr val="236B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8720" y="4709160"/>
            <a:ext cx="868680" cy="86868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26" name="Image 0" descr="C:\Users\yusei.onodera\AppData\Local\Temp\claude\C--Users-yusei-onodera-git-GreenBois\17d97dcd-0a87-4359-aaef-b1e6a68a8805\scratchpad\icons\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173" y="4904613"/>
            <a:ext cx="477774" cy="47777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2286000" y="4617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技術的現実性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2286000" y="5120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A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東京都オープンデータの実装で証明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172200" y="4297680"/>
            <a:ext cx="5029200" cy="1691640"/>
          </a:xfrm>
          <a:prstGeom prst="rect">
            <a:avLst/>
          </a:prstGeom>
          <a:solidFill>
            <a:srgbClr val="1E4029"/>
          </a:solidFill>
          <a:ln w="12700">
            <a:solidFill>
              <a:srgbClr val="236B2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37960" y="4709160"/>
            <a:ext cx="868680" cy="86868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31" name="Image 1" descr="C:\Users\yusei.onodera\AppData\Local\Temp\claude\C--Users-yusei-onodera-git-GreenBois\17d97dcd-0a87-4359-aaef-b1e6a68a8805\scratchpad\icons\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413" y="4904613"/>
            <a:ext cx="477774" cy="477774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635240" y="4617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政策的価値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7635240" y="5120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A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声・予算根拠・担当部署をつなぐ設計で証明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具体案 — 1:35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次に、現実的に前へ進められること。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332720" cy="1234440"/>
          </a:xfrm>
          <a:prstGeom prst="rect">
            <a:avLst/>
          </a:prstGeom>
          <a:solidFill>
            <a:srgbClr val="DCEBD9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103120"/>
            <a:ext cx="777240" cy="77724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6" name="Image 0" descr="C:\Users\yusei.onodera\AppData\Local\Temp\claude\C--Users-yusei-onodera-git-GreenBois\17d97dcd-0a87-4359-aaef-b1e6a68a8805\scratchpad\icons\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2159" y="227799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0116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この場での実演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148840" y="2450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実際にピンを立て、管轄判定が返る様子をこの場でご覧いただきます。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実証実験先(部署名を実在確認済み)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886200"/>
            <a:ext cx="23957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F3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4087368"/>
            <a:ext cx="502920" cy="50292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12" name="Image 1" descr="C:\Users\yusei.onodera\AppData\Local\Temp\claude\C--Users-yusei-onodera-git-GreenBois\17d97dcd-0a87-4359-aaef-b1e6a68a8805\scratchpad\icons\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97" y="4200525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388620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世田谷区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419856" y="3886200"/>
            <a:ext cx="23957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F3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02736" y="4087368"/>
            <a:ext cx="502920" cy="50292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16" name="Image 2" descr="C:\Users\yusei.onodera\AppData\Local\Temp\claude\C--Users-yusei-onodera-git-GreenBois\17d97dcd-0a87-4359-aaef-b1e6a68a8805\scratchpad\icons\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893" y="4200525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42816" y="388620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目黒区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016752" y="3886200"/>
            <a:ext cx="23957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F3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99632" y="4087368"/>
            <a:ext cx="502920" cy="50292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20" name="Image 3" descr="C:\Users\yusei.onodera\AppData\Local\Temp\claude\C--Users-yusei-onodera-git-GreenBois\17d97dcd-0a87-4359-aaef-b1e6a68a8805\scratchpad\icons\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789" y="4200525"/>
            <a:ext cx="276606" cy="2766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39712" y="388620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渋谷区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8613648" y="3886200"/>
            <a:ext cx="23957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F39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796528" y="4087368"/>
            <a:ext cx="502920" cy="502920"/>
          </a:xfrm>
          <a:prstGeom prst="ellipse">
            <a:avLst/>
          </a:prstGeom>
          <a:solidFill>
            <a:srgbClr val="2F8F39"/>
          </a:solidFill>
          <a:ln/>
        </p:spPr>
      </p:sp>
      <p:pic>
        <p:nvPicPr>
          <p:cNvPr id="24" name="Image 4" descr="C:\Users\yusei.onodera\AppData\Local\Temp\claude\C--Users-yusei-onodera-git-GreenBois\17d97dcd-0a87-4359-aaef-b1e6a68a8805\scratchpad\icons\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9685" y="4200525"/>
            <a:ext cx="276606" cy="27660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36608" y="388620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中野区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822960" y="5257800"/>
            <a:ext cx="8686800" cy="292608"/>
          </a:xfrm>
          <a:prstGeom prst="rect">
            <a:avLst/>
          </a:prstGeom>
          <a:solidFill>
            <a:srgbClr val="F3E6CE"/>
          </a:solidFill>
          <a:ln w="9525">
            <a:solidFill>
              <a:srgbClr val="C98A2E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896112" y="5257800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app/prisma/ingest/seedAuthorities.ts / 各区公式サイトで部署名を確認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5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86968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9576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72184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594360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886968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179576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472184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25296" y="594360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25296" y="886968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25296" y="1179576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25296" y="1472184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17904" y="594360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17904" y="886968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17904" y="1179576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17904" y="1472184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594360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10512" y="886968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10512" y="1179576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10512" y="1472184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103120" y="594360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103120" y="886968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03120" y="1179576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103120" y="1472184"/>
            <a:ext cx="36576" cy="36576"/>
          </a:xfrm>
          <a:prstGeom prst="ellipse">
            <a:avLst/>
          </a:prstGeom>
          <a:solidFill>
            <a:srgbClr val="2F8F39">
              <a:alpha val="4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168335" y="685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インパクト — 1:50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173736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8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3,300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822960" y="27432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A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件の公園データが実データとして稼働中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16552" y="173736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8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15/23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4416552" y="27432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A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区分をすでに取り込み。残りは正直に「未取得」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10144" y="173736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8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80m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8010144" y="27432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A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以内の近傍一致で管轄を自動判定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" y="3749040"/>
            <a:ext cx="10332720" cy="0"/>
          </a:xfrm>
          <a:prstGeom prst="line">
            <a:avLst/>
          </a:prstGeom>
          <a:noFill/>
          <a:ln w="12700">
            <a:solidFill>
              <a:srgbClr val="236B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069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都のオープンデータが、都民参加に変わる瞬間を。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22960" y="5029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C9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GreenVoice TOKYO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822960" y="6035040"/>
            <a:ext cx="7772400" cy="292608"/>
          </a:xfrm>
          <a:prstGeom prst="rect">
            <a:avLst/>
          </a:prstGeom>
          <a:solidFill>
            <a:srgbClr val="F3E6CE"/>
          </a:solidFill>
          <a:ln w="9525">
            <a:solidFill>
              <a:srgbClr val="C98A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6035040"/>
            <a:ext cx="7626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東京都オープンデータカタログサイト経由取得 / docs/05-roadmap.md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2026-08-18T08:15:45Z</dcterms:created>
  <dcterms:modified xsi:type="dcterms:W3CDTF">2026-08-18T08:15:45Z</dcterms:modified>
</cp:coreProperties>
</file>